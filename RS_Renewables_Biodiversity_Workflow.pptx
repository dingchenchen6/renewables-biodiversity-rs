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2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E2F3C"/>
                </a:solidFill>
                <a:latin typeface="PingFang SC"/>
              </a:defRPr>
            </a:pPr>
            <a:r>
              <a:rPr sz="1400" b="0" i="0" u="none" strike="noStrike">
                <a:solidFill>
                  <a:srgbClr val="0E2F3C"/>
                </a:solidFill>
                <a:latin typeface="PingFang SC"/>
              </a:rPr>
              <a:t>2018 年后新建光伏:建设前一年 30 m 土地覆盖(按面积 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CLCD v1.0.5</c:v>
                </c:pt>
              </c:strCache>
            </c:strRef>
          </c:tx>
          <c:spPr>
            <a:solidFill>
              <a:srgbClr val="1F6F78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裸地</c:v>
                  </c:pt>
                  <c:pt idx="1">
                    <c:v>草地</c:v>
                  </c:pt>
                  <c:pt idx="2">
                    <c:v>耕地</c:v>
                  </c:pt>
                  <c:pt idx="3">
                    <c:v>稀疏植被</c:v>
                  </c:pt>
                  <c:pt idx="4">
                    <c:v>湿地+水体</c:v>
                  </c:pt>
                  <c:pt idx="5">
                    <c:v>不透水面</c:v>
                  </c:pt>
                  <c:pt idx="6">
                    <c:v>森林+灌丛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36</c:v>
                </c:pt>
                <c:pt idx="1">
                  <c:v>31.2</c:v>
                </c:pt>
                <c:pt idx="2">
                  <c:v>23.2</c:v>
                </c:pt>
                <c:pt idx="3">
                  <c:v>0</c:v>
                </c:pt>
                <c:pt idx="4">
                  <c:v>3.7</c:v>
                </c:pt>
                <c:pt idx="5">
                  <c:v>3.9</c:v>
                </c:pt>
                <c:pt idx="6">
                  <c:v>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GLC_FCS30D</c:v>
                </c:pt>
              </c:strCache>
            </c:strRef>
          </c:tx>
          <c:spPr>
            <a:solidFill>
              <a:srgbClr val="E9A23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裸地</c:v>
                  </c:pt>
                  <c:pt idx="1">
                    <c:v>草地</c:v>
                  </c:pt>
                  <c:pt idx="2">
                    <c:v>耕地</c:v>
                  </c:pt>
                  <c:pt idx="3">
                    <c:v>稀疏植被</c:v>
                  </c:pt>
                  <c:pt idx="4">
                    <c:v>湿地+水体</c:v>
                  </c:pt>
                  <c:pt idx="5">
                    <c:v>不透水面</c:v>
                  </c:pt>
                  <c:pt idx="6">
                    <c:v>森林+灌丛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39.5</c:v>
                </c:pt>
                <c:pt idx="1">
                  <c:v>21.1</c:v>
                </c:pt>
                <c:pt idx="2">
                  <c:v>19.5</c:v>
                </c:pt>
                <c:pt idx="3">
                  <c:v>8.6</c:v>
                </c:pt>
                <c:pt idx="4">
                  <c:v>6.1</c:v>
                </c:pt>
                <c:pt idx="5">
                  <c:v>3.2</c:v>
                </c:pt>
                <c:pt idx="6">
                  <c:v>2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D2A33"/>
                </a:solidFill>
                <a:latin typeface="PingFang S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5"/>
        </c:scaling>
        <c:delete val="0"/>
        <c:axPos val="l"/>
        <c:majorGridlines>
          <c:spPr>
            <a:ln w="6350" cap="flat">
              <a:solidFill>
                <a:srgbClr val="E3E9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E6B7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latin typeface="PingFang SC"/>
              <a:cs typeface="PingFang SC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E2F3C"/>
                </a:solidFill>
                <a:latin typeface="PingFang SC"/>
              </a:defRPr>
            </a:pPr>
            <a:r>
              <a:rPr sz="1300" b="0" i="0" u="none" strike="noStrike">
                <a:solidFill>
                  <a:srgbClr val="0E2F3C"/>
                </a:solidFill>
                <a:latin typeface="PingFang SC"/>
              </a:rPr>
              <a:t>新建光伏面积的建设前覆盖构成(%)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裸地</c:v>
                </c:pt>
              </c:strCache>
            </c:strRef>
          </c:tx>
          <c:spPr>
            <a:solidFill>
              <a:srgbClr val="CDB48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2018</c:v>
                  </c:pt>
                  <c:pt idx="1">
                    <c:v>2019</c:v>
                  </c:pt>
                  <c:pt idx="2">
                    <c:v>2020</c:v>
                  </c:pt>
                  <c:pt idx="3">
                    <c:v>2021</c:v>
                  </c:pt>
                  <c:pt idx="4">
                    <c:v>2022</c:v>
                  </c:pt>
                  <c:pt idx="5">
                    <c:v>2023</c:v>
                  </c:pt>
                  <c:pt idx="6">
                    <c:v>2024*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33.6</c:v>
                </c:pt>
                <c:pt idx="1">
                  <c:v>18.7</c:v>
                </c:pt>
                <c:pt idx="2">
                  <c:v>15.6</c:v>
                </c:pt>
                <c:pt idx="3">
                  <c:v>18.9</c:v>
                </c:pt>
                <c:pt idx="4">
                  <c:v>44.5</c:v>
                </c:pt>
                <c:pt idx="5">
                  <c:v>73.9</c:v>
                </c:pt>
                <c:pt idx="6">
                  <c:v>77.9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稀疏植被</c:v>
                </c:pt>
              </c:strCache>
            </c:strRef>
          </c:tx>
          <c:spPr>
            <a:solidFill>
              <a:srgbClr val="A9C3A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2018</c:v>
                  </c:pt>
                  <c:pt idx="1">
                    <c:v>2019</c:v>
                  </c:pt>
                  <c:pt idx="2">
                    <c:v>2020</c:v>
                  </c:pt>
                  <c:pt idx="3">
                    <c:v>2021</c:v>
                  </c:pt>
                  <c:pt idx="4">
                    <c:v>2022</c:v>
                  </c:pt>
                  <c:pt idx="5">
                    <c:v>2023</c:v>
                  </c:pt>
                  <c:pt idx="6">
                    <c:v>2024*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7.9</c:v>
                </c:pt>
                <c:pt idx="1">
                  <c:v>8.8</c:v>
                </c:pt>
                <c:pt idx="2">
                  <c:v>10.8</c:v>
                </c:pt>
                <c:pt idx="3">
                  <c:v>10.7</c:v>
                </c:pt>
                <c:pt idx="4">
                  <c:v>12.1</c:v>
                </c:pt>
                <c:pt idx="5">
                  <c:v>5.8</c:v>
                </c:pt>
                <c:pt idx="6">
                  <c:v>2.6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草地</c:v>
                </c:pt>
              </c:strCache>
            </c:strRef>
          </c:tx>
          <c:spPr>
            <a:solidFill>
              <a:srgbClr val="6FA6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2018</c:v>
                  </c:pt>
                  <c:pt idx="1">
                    <c:v>2019</c:v>
                  </c:pt>
                  <c:pt idx="2">
                    <c:v>2020</c:v>
                  </c:pt>
                  <c:pt idx="3">
                    <c:v>2021</c:v>
                  </c:pt>
                  <c:pt idx="4">
                    <c:v>2022</c:v>
                  </c:pt>
                  <c:pt idx="5">
                    <c:v>2023</c:v>
                  </c:pt>
                  <c:pt idx="6">
                    <c:v>2024*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23.7</c:v>
                </c:pt>
                <c:pt idx="1">
                  <c:v>25</c:v>
                </c:pt>
                <c:pt idx="2">
                  <c:v>41.9</c:v>
                </c:pt>
                <c:pt idx="3">
                  <c:v>24.8</c:v>
                </c:pt>
                <c:pt idx="4">
                  <c:v>16.1</c:v>
                </c:pt>
                <c:pt idx="5">
                  <c:v>7.4</c:v>
                </c:pt>
                <c:pt idx="6">
                  <c:v>2.6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耕地</c:v>
                </c:pt>
              </c:strCache>
            </c:strRef>
          </c:tx>
          <c:spPr>
            <a:solidFill>
              <a:srgbClr val="E9A23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2018</c:v>
                  </c:pt>
                  <c:pt idx="1">
                    <c:v>2019</c:v>
                  </c:pt>
                  <c:pt idx="2">
                    <c:v>2020</c:v>
                  </c:pt>
                  <c:pt idx="3">
                    <c:v>2021</c:v>
                  </c:pt>
                  <c:pt idx="4">
                    <c:v>2022</c:v>
                  </c:pt>
                  <c:pt idx="5">
                    <c:v>2023</c:v>
                  </c:pt>
                  <c:pt idx="6">
                    <c:v>2024*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21.9</c:v>
                </c:pt>
                <c:pt idx="1">
                  <c:v>28.9</c:v>
                </c:pt>
                <c:pt idx="2">
                  <c:v>21.7</c:v>
                </c:pt>
                <c:pt idx="3">
                  <c:v>31.2</c:v>
                </c:pt>
                <c:pt idx="4">
                  <c:v>18.8</c:v>
                </c:pt>
                <c:pt idx="5">
                  <c:v>7.4</c:v>
                </c:pt>
                <c:pt idx="6">
                  <c:v>4.1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其他</c:v>
                </c:pt>
              </c:strCache>
            </c:strRef>
          </c:tx>
          <c:spPr>
            <a:solidFill>
              <a:srgbClr val="8C969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2018</c:v>
                  </c:pt>
                  <c:pt idx="1">
                    <c:v>2019</c:v>
                  </c:pt>
                  <c:pt idx="2">
                    <c:v>2020</c:v>
                  </c:pt>
                  <c:pt idx="3">
                    <c:v>2021</c:v>
                  </c:pt>
                  <c:pt idx="4">
                    <c:v>2022</c:v>
                  </c:pt>
                  <c:pt idx="5">
                    <c:v>2023</c:v>
                  </c:pt>
                  <c:pt idx="6">
                    <c:v>2024*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12.9</c:v>
                </c:pt>
                <c:pt idx="1">
                  <c:v>18.6</c:v>
                </c:pt>
                <c:pt idx="2">
                  <c:v>10</c:v>
                </c:pt>
                <c:pt idx="3">
                  <c:v>14.4</c:v>
                </c:pt>
                <c:pt idx="4">
                  <c:v>8.5</c:v>
                </c:pt>
                <c:pt idx="5">
                  <c:v>5.5</c:v>
                </c:pt>
                <c:pt idx="6">
                  <c:v>12.8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D2A3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9EC"/>
              </a:solidFill>
              <a:prstDash val="solid"/>
              <a:round/>
            </a:ln>
          </c:spPr>
        </c:majorGridlines>
        <c:numFmt formatCode="0%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E6B7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PingFang SC"/>
              <a:cs typeface="PingFang SC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2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046720" y="548640"/>
            <a:ext cx="2926080" cy="2926080"/>
          </a:xfrm>
          <a:prstGeom prst="ellipse">
            <a:avLst/>
          </a:prstGeom>
          <a:solidFill>
            <a:srgbClr val="E9A23B">
              <a:alpha val="30000"/>
            </a:srgbClr>
          </a:solidFill>
          <a:ln w="12700">
            <a:solidFill>
              <a:srgbClr val="E9A23B">
                <a:alpha val="4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412480" y="914400"/>
            <a:ext cx="2194560" cy="2194560"/>
          </a:xfrm>
          <a:prstGeom prst="ellipse">
            <a:avLst/>
          </a:prstGeom>
          <a:solidFill>
            <a:srgbClr val="E9A23B">
              <a:alpha val="22000"/>
            </a:srgbClr>
          </a:solidFill>
          <a:ln w="12700">
            <a:solidFill>
              <a:srgbClr val="E9A23B">
                <a:alpha val="4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78240" y="1280160"/>
            <a:ext cx="1463040" cy="1463040"/>
          </a:xfrm>
          <a:prstGeom prst="ellipse">
            <a:avLst/>
          </a:prstGeom>
          <a:solidFill>
            <a:srgbClr val="E9A23B">
              <a:alpha val="14000"/>
            </a:srgbClr>
          </a:solidFill>
          <a:ln w="12700">
            <a:solidFill>
              <a:srgbClr val="E9A23B">
                <a:alpha val="4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0058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A23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研究工作流 · v0.2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15544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中国风光电扩张的生物多样性影响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FE3E6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遥感事后评估:占用了什么、改变了什么、与规划预测是否一致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40080" y="40233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真实设施足迹 × 季度建设日期 × 晚建站点反事实 × 不依赖观测努力的结局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58521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8B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丁晨晨 · 北京大学 · 2026 年 10 月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一句话判断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可以做,时机好;全国绿度评估已有(Li 等 2024),新意在因果对照、异质性、风电与物种暴露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120640" cy="4206240"/>
          </a:xfrm>
          <a:prstGeom prst="roundRect">
            <a:avLst>
              <a:gd name="adj" fmla="val 1739"/>
            </a:avLst>
          </a:prstGeom>
          <a:solidFill>
            <a:srgbClr val="0E2F3C"/>
          </a:solidFill>
          <a:ln w="12700">
            <a:solidFill>
              <a:srgbClr val="0E2F3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01168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9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2017Q4 – 2024Q2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822960" y="2834640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Global Renewables Watch 为全球每个光伏电站和陆上风机标注了季度精度的建设日期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4114800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FE3E6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这让"建设前后、早建与晚建"的交错双重差分第一次可以在全国尺度上做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126480" y="1828800"/>
            <a:ext cx="548640" cy="54864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126480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858000" y="16916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暴露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858000" y="210312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真实设施足迹与建设日期,而非县级政策指数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126480" y="2880360"/>
            <a:ext cx="548640" cy="548640"/>
          </a:xfrm>
          <a:prstGeom prst="ellipse">
            <a:avLst/>
          </a:prstGeom>
          <a:solidFill>
            <a:srgbClr val="1F6F78"/>
          </a:solidFill>
          <a:ln w="12700">
            <a:solidFill>
              <a:srgbClr val="1F6F7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126480" y="2880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858000" y="27432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结局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858000" y="315468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栖息地状况的遥感指标与物种暴露,不依赖观测努力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126480" y="3931920"/>
            <a:ext cx="548640" cy="54864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26480" y="3931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858000" y="379476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反事实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858000" y="420624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晚建站点与匹配的未建点,按资源潜力匹配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126480" y="4983480"/>
            <a:ext cx="548640" cy="548640"/>
          </a:xfrm>
          <a:prstGeom prst="ellipse">
            <a:avLst/>
          </a:prstGeom>
          <a:solidFill>
            <a:srgbClr val="1F6F78"/>
          </a:solidFill>
          <a:ln w="12700">
            <a:solidFill>
              <a:srgbClr val="1F6F7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126480" y="4983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858000" y="48463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检验对象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858000" y="525780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NEE 论文"全国集中"与"省级分散"两种情景的预测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定位:两篇论文各缺什么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Science 有事后视角但测错了;NEE 有正确尺度但只是潜在冲突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3291840"/>
                <a:gridCol w="3017520"/>
                <a:gridCol w="3227832"/>
              </a:tblGrid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F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Zhang 等 2026 · Science</a:t>
                      </a:r>
                      <a:endParaRPr lang="en-US" sz="14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F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Zhou…Li 2026 · NEE</a:t>
                      </a:r>
                      <a:endParaRPr lang="en-US" sz="14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F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E2F3C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本工作流</a:t>
                      </a:r>
                      <a:endParaRPr lang="en-US" sz="14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A23B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时间视角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事后,2014–2023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事前,情景至 2060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事后,2017Q4–2024Q2,可回溯至 2010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暴露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县级政策强度指数;县内不预测实际光伏面积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规划情景下的潜在选址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遥感识别的真实足迹 + 季度建设日期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结局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县-月观鸟香农指数,由观测努力主导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与物种分布和保护优先区的重叠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栖息地状况遥感指标 + 物种暴露 + 结构化监测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尺度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县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全国栅格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站点及外围距离环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因果识别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双向固定效应,存在预趋势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不涉及,情景比较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交错 DiD,晚建站点作对照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0350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6F7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缺口:真实发生的扩张到底占用了什么、造成了什么,目前没有全国性的因果证据。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国内已有的遥感评估:已回答什么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绿度变化已有全国描述,方向依原生境与干旱度而异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4415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651760"/>
                <a:gridCol w="3959352"/>
                <a:gridCol w="22860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研究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F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样本与方法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F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主要发现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F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E2F3C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留给本工作流的空间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A23B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Li X. 等 2024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Renewable Energy [12]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全国光伏图 × 30 m 植被指数;建设期与运行期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建设期绿度下降,森林最大、裸地最小;中小站点负效应更强;运行期回升,裸地最明显;约 21% 超过建设前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只有绿度;无未建对照,区域变绿与气候趋势难剥离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Li Y. 等 2026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Environ. Res. Commun. [13]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57 站,"空间-时间"法;EVI、FVC、NPP、土壤水分、气温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湿润区耕地负响应最强(ΔEVI −0.03);草地较弱;裸地 FVC、NPP 小幅上升且土壤水分增加;夜间增温为主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站点少;无物种与异质性;无风电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彭昀月 等 2024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生物多样性 [14]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集中式光伏与风电生态影响综述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光伏改变土壤、植被与栖息地质量;风电集中于植被扰动、撞击与破碎化;机制与生态系统层面研究不足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呼吁统一调查方法与物种层面研究,对应 M3–M5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440680"/>
            <a:ext cx="11094415" cy="868680"/>
          </a:xfrm>
          <a:prstGeom prst="roundRect">
            <a:avLst>
              <a:gd name="adj" fmla="val 6316"/>
            </a:avLst>
          </a:prstGeom>
          <a:solidFill>
            <a:srgbClr val="FBF1DF"/>
          </a:solidFill>
          <a:ln w="12700">
            <a:solidFill>
              <a:srgbClr val="FBF1D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5486400"/>
            <a:ext cx="107286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修订后的缺口:① 有未建对照与预趋势检验的因果估计;② 绿度之外的异质性与物种暴露;③ 风电与光伏同框;④ 真实选址对照 NEE 情景。政策语境另见《中国可再生能源与生物多样性协同发展的机遇与挑战》征求意见稿 [15]。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证据台账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区分有来源支撑、推断与待核实三类,只在第一类上立论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657600" cy="4572000"/>
          </a:xfrm>
          <a:prstGeom prst="roundRect">
            <a:avLst>
              <a:gd name="adj" fmla="val 2000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73736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6F7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有来源支撑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32918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NEE:集中选址与丰富度优先区冲突低 4–7%,重叠物种少 11–33%,但与功能多样性和干旱生物群区冲突更大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GRW:光伏多边形 + 风机点位,季度建设日期,PlanetScope 4.7 米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光伏遥感研究普遍报告"变绿",但受气候混杂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青海荒漠野外:板下生物量增加,物种丰富度与香农指数下降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内蒙古风电场:夜间增温、生产力下降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全国 30 m:建设期绿度降,运行期回升,约 21% 超过建设前 [12]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57 站:湿润区耕地负响应最强,裸地小幅变绿伴随土壤水分增加 [13]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343400" y="1600200"/>
            <a:ext cx="3657600" cy="4572000"/>
          </a:xfrm>
          <a:prstGeom prst="roundRect">
            <a:avLst>
              <a:gd name="adj" fmla="val 2000"/>
            </a:avLst>
          </a:prstGeom>
          <a:solidFill>
            <a:srgbClr val="FBF1DF"/>
          </a:solidFill>
          <a:ln w="12700">
            <a:solidFill>
              <a:srgbClr val="FBF1D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26280" y="173736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A5A1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推断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4526280" y="2194560"/>
            <a:ext cx="32918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大型基地向荒漠、戈壁集中,而那里恰是公民科学数据最稀疏、NEE 预测功能多样性冲突最大的地方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"劣质绿化"若存在,应表现为绿度上升、异质性下降;站点尺度可检验,县级 MODIS 不可检验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效应由原生境与干旱度共同调节:旱区以土壤水分增益为主,湿润区以遮光为主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中小站点负效应更强可能是选址混杂(建在高绿度处),需控制建设前绿度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138160" y="1600200"/>
            <a:ext cx="3502152" cy="4572000"/>
          </a:xfrm>
          <a:prstGeom prst="roundRect">
            <a:avLst>
              <a:gd name="adj" fmla="val 2089"/>
            </a:avLst>
          </a:prstGeom>
          <a:solidFill>
            <a:srgbClr val="F3E7E4"/>
          </a:solidFill>
          <a:ln w="12700">
            <a:solidFill>
              <a:srgbClr val="F3E7E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21040" y="1737360"/>
            <a:ext cx="3136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5523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待核实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8321040" y="2194560"/>
            <a:ext cx="3136392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GRW 在中国的要素数量与日期准确度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是否已有用建设日期构建反事实的全国风电研究(本次检索未见)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China BON-Birds 的获取途径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NEE 情景空间图层能否获取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核心问题与三个竞争假说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94415" cy="1188720"/>
          </a:xfrm>
          <a:prstGeom prst="roundRect">
            <a:avLst>
              <a:gd name="adj" fmla="val 6154"/>
            </a:avLst>
          </a:prstGeom>
          <a:solidFill>
            <a:srgbClr val="0E2F3C"/>
          </a:solidFill>
          <a:ln w="12700">
            <a:solidFill>
              <a:srgbClr val="0E2F3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280160"/>
            <a:ext cx="105457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2017–2024 年中国新建的地面光伏与陆上风电,占用了哪些生境与物种栖息地;建设是否因果性地降低了站点及外围的栖息地状况;代价格局更接近 NEE 的"全国集中"还是"省级分散"情景?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743200"/>
            <a:ext cx="3566160" cy="2377440"/>
          </a:xfrm>
          <a:prstGeom prst="roundRect">
            <a:avLst>
              <a:gd name="adj" fmla="val 3077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971800"/>
            <a:ext cx="320040" cy="320040"/>
          </a:xfrm>
          <a:prstGeom prst="ellipse">
            <a:avLst/>
          </a:prstGeom>
          <a:solidFill>
            <a:srgbClr val="B5523B"/>
          </a:solidFill>
          <a:ln w="12700">
            <a:solidFill>
              <a:srgbClr val="B552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34440" y="29260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H1 生境置换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77240" y="3520440"/>
            <a:ext cx="3154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建设转换自然生境,站点及外围状况下降,效应随距离衰减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297680" y="2743200"/>
            <a:ext cx="3566160" cy="2377440"/>
          </a:xfrm>
          <a:prstGeom prst="roundRect">
            <a:avLst>
              <a:gd name="adj" fmla="val 3077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26280" y="2971800"/>
            <a:ext cx="320040" cy="320040"/>
          </a:xfrm>
          <a:prstGeom prst="ellipse">
            <a:avLst/>
          </a:prstGeom>
          <a:solidFill>
            <a:srgbClr val="6FA67A"/>
          </a:solidFill>
          <a:ln w="12700">
            <a:solidFill>
              <a:srgbClr val="6FA67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83480" y="29260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H2 中性或改善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526280" y="3520440"/>
            <a:ext cx="3154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站点多在退化地、裸地或农田,遮荫增湿带来变绿而无生境损失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046720" y="2743200"/>
            <a:ext cx="3566160" cy="2377440"/>
          </a:xfrm>
          <a:prstGeom prst="roundRect">
            <a:avLst>
              <a:gd name="adj" fmla="val 3077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75320" y="2971800"/>
            <a:ext cx="320040" cy="32004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732520" y="29260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H3 同质化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275320" y="3520440"/>
            <a:ext cx="3154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绿度上升但结构与光谱异质性下降,生境质量损失被 NDVI 掩盖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8640" y="54864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6F7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挑战的默认假设:① 遥感变绿即生态改善;② 荒漠是低代价选址;③ 政策强度可以代表生态暴露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关键判别:同时看绿度与异质性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绿度上升不等于多样性上升,这是整条工作流最核心的洞见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731520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554480"/>
                <a:gridCol w="1737360"/>
                <a:gridCol w="1371600"/>
              </a:tblGrid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预测(自然生境站点,建设后)</a:t>
                      </a:r>
                      <a:endParaRPr lang="en-US" sz="14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7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绿度 NDVI / GPP</a:t>
                      </a:r>
                      <a:endParaRPr lang="en-US" sz="14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7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异质性 Rao's Q / 纹理</a:t>
                      </a:r>
                      <a:endParaRPr lang="en-US" sz="14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7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夜间地表温度</a:t>
                      </a:r>
                      <a:endParaRPr lang="en-US" sz="14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78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000000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H1 生境置换</a:t>
                      </a:r>
                      <a:endParaRPr lang="en-US" sz="15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B5523B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↓</a:t>
                      </a:r>
                      <a:endParaRPr lang="en-US" sz="15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B5523B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↓</a:t>
                      </a:r>
                      <a:endParaRPr lang="en-US" sz="15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B5523B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↑</a:t>
                      </a:r>
                      <a:endParaRPr lang="en-US" sz="15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000000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H2 中性或改善</a:t>
                      </a:r>
                      <a:endParaRPr lang="en-US" sz="15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6FA67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0 或 ↑</a:t>
                      </a:r>
                      <a:endParaRPr lang="en-US" sz="15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6FA67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0</a:t>
                      </a:r>
                      <a:endParaRPr lang="en-US" sz="15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6FA67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0</a:t>
                      </a:r>
                      <a:endParaRPr lang="en-US" sz="15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000000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H3 同质化</a:t>
                      </a:r>
                      <a:endParaRPr lang="en-US" sz="15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8A5A12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↑</a:t>
                      </a:r>
                      <a:endParaRPr lang="en-US" sz="15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B5523B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↓</a:t>
                      </a:r>
                      <a:endParaRPr lang="en-US" sz="15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5E6B75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±</a:t>
                      </a:r>
                      <a:endParaRPr lang="en-US" sz="15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183880" y="1600200"/>
            <a:ext cx="3456432" cy="2743200"/>
          </a:xfrm>
          <a:prstGeom prst="roundRect">
            <a:avLst>
              <a:gd name="adj" fmla="val 2667"/>
            </a:avLst>
          </a:prstGeom>
          <a:solidFill>
            <a:srgbClr val="FBF1DF"/>
          </a:solidFill>
          <a:ln w="12700">
            <a:solidFill>
              <a:srgbClr val="FBF1D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366760" y="1737360"/>
            <a:ext cx="3090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A5A1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地面证据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8366760" y="2194560"/>
            <a:ext cx="309067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青海荒漠野外调查:板下生物量增加,但物种丰富度与香农指数显著下降。遥感只看绿度会把 H3 误判为 H2。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4572000"/>
            <a:ext cx="11094415" cy="1463040"/>
          </a:xfrm>
          <a:prstGeom prst="roundRect">
            <a:avLst>
              <a:gd name="adj" fmla="val 5000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31520" y="4709160"/>
            <a:ext cx="107286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证伪条件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731520" y="5166360"/>
            <a:ext cx="107286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预趋势平坦、功效充足,而自然生境站点各项状况指标的建设后效应都与零无差异,则 H1 被否定;绿度上升处异质性并未下降,则 H3 被否定。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工作流总览:七个模块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M0 → M6,每一步都有明确产出与决策门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481328" cy="2743200"/>
          </a:xfrm>
          <a:prstGeom prst="roundRect">
            <a:avLst>
              <a:gd name="adj" fmla="val 4938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23544" y="2011680"/>
            <a:ext cx="731520" cy="731520"/>
          </a:xfrm>
          <a:prstGeom prst="ellipse">
            <a:avLst/>
          </a:prstGeom>
          <a:solidFill>
            <a:srgbClr val="5E6B75"/>
          </a:solidFill>
          <a:ln w="12700">
            <a:solidFill>
              <a:srgbClr val="5E6B7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23544" y="2011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21792" y="2880360"/>
            <a:ext cx="1335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准备与治理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3429000"/>
            <a:ext cx="12984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GEE 注册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数据协议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预注册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2039112" y="3364992"/>
            <a:ext cx="146304" cy="201168"/>
          </a:xfrm>
          <a:prstGeom prst="rightArrow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194560" y="1828800"/>
            <a:ext cx="1481328" cy="2743200"/>
          </a:xfrm>
          <a:prstGeom prst="roundRect">
            <a:avLst>
              <a:gd name="adj" fmla="val 4938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569464" y="2011680"/>
            <a:ext cx="731520" cy="731520"/>
          </a:xfrm>
          <a:prstGeom prst="ellipse">
            <a:avLst/>
          </a:prstGeom>
          <a:solidFill>
            <a:srgbClr val="1F6F78"/>
          </a:solidFill>
          <a:ln w="12700">
            <a:solidFill>
              <a:srgbClr val="1F6F7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569464" y="2011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267712" y="2880360"/>
            <a:ext cx="1335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设施清单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286000" y="3429000"/>
            <a:ext cx="12984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GRW + 中国光伏专题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+ GEM 容量状态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3685032" y="3364992"/>
            <a:ext cx="146304" cy="201168"/>
          </a:xfrm>
          <a:prstGeom prst="rightArrow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40480" y="1828800"/>
            <a:ext cx="1481328" cy="2743200"/>
          </a:xfrm>
          <a:prstGeom prst="roundRect">
            <a:avLst>
              <a:gd name="adj" fmla="val 4938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215384" y="2011680"/>
            <a:ext cx="731520" cy="731520"/>
          </a:xfrm>
          <a:prstGeom prst="ellipse">
            <a:avLst/>
          </a:prstGeom>
          <a:solidFill>
            <a:srgbClr val="1F6F78"/>
          </a:solidFill>
          <a:ln w="12700">
            <a:solidFill>
              <a:srgbClr val="1F6F7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15384" y="2011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3913632" y="2880360"/>
            <a:ext cx="1335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转换与暴露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3931920" y="3429000"/>
            <a:ext cx="12984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建设前生境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AOH 物种暴露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对照 NEE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330952" y="3364992"/>
            <a:ext cx="146304" cy="201168"/>
          </a:xfrm>
          <a:prstGeom prst="rightArrow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0" y="1828800"/>
            <a:ext cx="1481328" cy="2743200"/>
          </a:xfrm>
          <a:prstGeom prst="roundRect">
            <a:avLst>
              <a:gd name="adj" fmla="val 4938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861304" y="2011680"/>
            <a:ext cx="731520" cy="731520"/>
          </a:xfrm>
          <a:prstGeom prst="ellipse">
            <a:avLst/>
          </a:prstGeom>
          <a:solidFill>
            <a:srgbClr val="0E2F3C"/>
          </a:solidFill>
          <a:ln w="12700">
            <a:solidFill>
              <a:srgbClr val="0E2F3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61304" y="2011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5559552" y="2880360"/>
            <a:ext cx="1335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因果效应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5577840" y="3429000"/>
            <a:ext cx="12984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交错 DiD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距离环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晚建对照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976872" y="3364992"/>
            <a:ext cx="146304" cy="201168"/>
          </a:xfrm>
          <a:prstGeom prst="rightArrow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132320" y="1828800"/>
            <a:ext cx="1481328" cy="2743200"/>
          </a:xfrm>
          <a:prstGeom prst="roundRect">
            <a:avLst>
              <a:gd name="adj" fmla="val 4938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507224" y="2011680"/>
            <a:ext cx="731520" cy="731520"/>
          </a:xfrm>
          <a:prstGeom prst="ellipse">
            <a:avLst/>
          </a:prstGeom>
          <a:solidFill>
            <a:srgbClr val="0E2F3C"/>
          </a:solidFill>
          <a:ln w="12700">
            <a:solidFill>
              <a:srgbClr val="0E2F3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507224" y="2011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M4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7205472" y="2880360"/>
            <a:ext cx="1335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机制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7223760" y="3429000"/>
            <a:ext cx="12984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绿度 vs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异质性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8622792" y="3364992"/>
            <a:ext cx="146304" cy="201168"/>
          </a:xfrm>
          <a:prstGeom prst="rightArrow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778240" y="1828800"/>
            <a:ext cx="1481328" cy="2743200"/>
          </a:xfrm>
          <a:prstGeom prst="roundRect">
            <a:avLst>
              <a:gd name="adj" fmla="val 4938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153144" y="2011680"/>
            <a:ext cx="731520" cy="731520"/>
          </a:xfrm>
          <a:prstGeom prst="ellipse">
            <a:avLst/>
          </a:prstGeom>
          <a:solidFill>
            <a:srgbClr val="6FA67A"/>
          </a:solidFill>
          <a:ln w="12700">
            <a:solidFill>
              <a:srgbClr val="6FA67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153144" y="2011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M5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8851392" y="2880360"/>
            <a:ext cx="1335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生物学响应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8869680" y="3429000"/>
            <a:ext cx="12984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BON 样线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努力校正占域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10268712" y="3364992"/>
            <a:ext cx="146304" cy="201168"/>
          </a:xfrm>
          <a:prstGeom prst="rightArrow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0424160" y="1828800"/>
            <a:ext cx="1481328" cy="2743200"/>
          </a:xfrm>
          <a:prstGeom prst="roundRect">
            <a:avLst>
              <a:gd name="adj" fmla="val 4938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799064" y="2011680"/>
            <a:ext cx="731520" cy="73152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799064" y="2011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M6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10497312" y="2880360"/>
            <a:ext cx="1335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综合</a:t>
            </a:r>
            <a:endParaRPr lang="en-US" sz="1500" dirty="0"/>
          </a:p>
        </p:txBody>
      </p:sp>
      <p:sp>
        <p:nvSpPr>
          <p:cNvPr id="44" name="Text 42"/>
          <p:cNvSpPr/>
          <p:nvPr/>
        </p:nvSpPr>
        <p:spPr>
          <a:xfrm>
            <a:off x="10515600" y="3429000"/>
            <a:ext cx="12984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真实 vs 规划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荒漠专题</a:t>
            </a:r>
            <a:endParaRPr lang="en-US" sz="1250" dirty="0"/>
          </a:p>
        </p:txBody>
      </p:sp>
      <p:sp>
        <p:nvSpPr>
          <p:cNvPr id="45" name="Text 43"/>
          <p:cNvSpPr/>
          <p:nvPr/>
        </p:nvSpPr>
        <p:spPr>
          <a:xfrm>
            <a:off x="548640" y="49377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6F7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备选快报:只做 M1 + M2(真实选址更像哪个情景),无需因果设计;M5 可独立成文,用正确方法回应 Science 的问题。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M1 设施清单 · M2 生境转换与物种暴露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5440680" cy="4846320"/>
          </a:xfrm>
          <a:prstGeom prst="roundRect">
            <a:avLst>
              <a:gd name="adj" fmla="val 1509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417320"/>
            <a:ext cx="5074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6F7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M1 设施清单与建设日期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731520" y="1874520"/>
            <a:ext cx="507492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主数据:GRW 光伏与风电,筛选 COUNTRY = China,保留 construction_year 与 construction_quarter;2017 年为左删失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补 2018 年前:中国 2015/2020 矢量光伏数据集的建设年份字段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复合利用:2010–2022 农光互补矢量数据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容量与状态:Global Energy Monitor 光伏/风电追踪库;"已宣布未建"站点是天然反事实候选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交叉验证:Dunnett 等协调化全球风电场位置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日期验证:随机抽 100–200 站,在 Sentinel-2 时序上目视判读建设季度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产出:统一设施表(几何、类型、容量、建设季度及其不确定性)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199632" y="1280160"/>
            <a:ext cx="5440680" cy="4846320"/>
          </a:xfrm>
          <a:prstGeom prst="roundRect">
            <a:avLst>
              <a:gd name="adj" fmla="val 1509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382512" y="1417320"/>
            <a:ext cx="5074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6F7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M2 转换与暴露核算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382512" y="1874520"/>
            <a:ext cx="507492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建设前生境:建设前一年年度土地覆盖(CLCD 1985–2025 为主,GLC_FCS30D 交叉核对)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转换核算:按生境类型、生物气候区、海拔带统计占用面积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物种暴露:IUCN/BirdLife 范围 × 生境偏好 × 海拔构建 AOH;受威胁物种用 SDM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按分布区大小、生境专化度、功能群汇总被占用比例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与 NEE 对照:用同一组指标计算真实选址冲突,判断更接近哪个情景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保护地:WDPA 对中国覆盖不全,需注明;有条件换用国内边界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M3 栖息地状况的因果效应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交错双重差分:站点足迹 + 外围距离环,晚建站点作对照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1097280" y="2286000"/>
            <a:ext cx="3291840" cy="3291840"/>
          </a:xfrm>
          <a:prstGeom prst="ellipse">
            <a:avLst/>
          </a:prstGeom>
          <a:solidFill>
            <a:srgbClr val="1F6F78">
              <a:alpha val="15000"/>
            </a:srgbClr>
          </a:solidFill>
          <a:ln w="12700">
            <a:solidFill>
              <a:srgbClr val="1F6F7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508760" y="2697480"/>
            <a:ext cx="2468880" cy="2468880"/>
          </a:xfrm>
          <a:prstGeom prst="ellipse">
            <a:avLst/>
          </a:prstGeom>
          <a:solidFill>
            <a:srgbClr val="1F6F78">
              <a:alpha val="30000"/>
            </a:srgbClr>
          </a:solidFill>
          <a:ln w="12700">
            <a:solidFill>
              <a:srgbClr val="1F6F7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874520" y="3063240"/>
            <a:ext cx="1737360" cy="1737360"/>
          </a:xfrm>
          <a:prstGeom prst="ellipse">
            <a:avLst/>
          </a:prstGeom>
          <a:solidFill>
            <a:srgbClr val="1F6F78">
              <a:alpha val="45000"/>
            </a:srgbClr>
          </a:solidFill>
          <a:ln w="12700">
            <a:solidFill>
              <a:srgbClr val="1F6F7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40280" y="3429000"/>
            <a:ext cx="1005840" cy="1005840"/>
          </a:xfrm>
          <a:prstGeom prst="ellipse">
            <a:avLst/>
          </a:prstGeom>
          <a:solidFill>
            <a:srgbClr val="1F6F78">
              <a:alpha val="60000"/>
            </a:srgbClr>
          </a:solidFill>
          <a:ln w="12700">
            <a:solidFill>
              <a:srgbClr val="1F6F7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468880" y="3730752"/>
            <a:ext cx="548640" cy="402336"/>
          </a:xfrm>
          <a:prstGeom prst="rect">
            <a:avLst/>
          </a:prstGeom>
          <a:solidFill>
            <a:srgbClr val="E9A23B"/>
          </a:solidFill>
          <a:ln w="12700">
            <a:solidFill>
              <a:srgbClr val="0E2F3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0" y="37490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站点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48640" y="571500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0–0.5 · 0.5–1 · 1–2 · 2–5 km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距离环作剂量-反应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0" y="1554480"/>
            <a:ext cx="615391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结局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绿度与生产力 NDVI、EVI、GPP;结构与异质性 Rao's Q、GLCM 纹理;昼夜地表温度、蒸散、土壤水分;景观破碎度</a:t>
            </a:r>
            <a:endParaRPr lang="en-US" sz="1500" dirty="0"/>
          </a:p>
          <a:p>
            <a:pPr indent="0" marL="0">
              <a:buNone/>
            </a:pPr>
            <a:r>
              <a:rPr lang="en-US" sz="6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识别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Callaway–Sant'Anna 与 Sun–Abraham 互证;晚建站点作未处理对照;另以 CEM 匹配从未建设的对照点</a:t>
            </a:r>
            <a:endParaRPr lang="en-US" sz="1500" dirty="0"/>
          </a:p>
          <a:p>
            <a:pPr indent="0" marL="0">
              <a:buNone/>
            </a:pPr>
            <a:r>
              <a:rPr lang="en-US" sz="6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匹配变量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光伏潜力或风速(选址按它挑)、坡度、海拔、距道路/电网/居民点、建设前土地覆盖与绿度趋势</a:t>
            </a:r>
            <a:endParaRPr lang="en-US" sz="1500" dirty="0"/>
          </a:p>
          <a:p>
            <a:pPr indent="0" marL="0">
              <a:buNone/>
            </a:pPr>
            <a:r>
              <a:rPr lang="en-US" sz="6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稳健性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事件研究预趋势;HonestDiD 敏感性;ERA5-Land 气候协变量;站点聚类或 Conley 空间标准误;按生境、干旱度、设施类型分层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M4 机制 · M5 生物学响应 · M6 综合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3566160" cy="4846320"/>
          </a:xfrm>
          <a:prstGeom prst="roundRect">
            <a:avLst>
              <a:gd name="adj" fmla="val 2051"/>
            </a:avLst>
          </a:prstGeom>
          <a:solidFill>
            <a:srgbClr val="FBF1DF"/>
          </a:solidFill>
          <a:ln w="12700">
            <a:solidFill>
              <a:srgbClr val="FBF1D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41732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A5A1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M4 变绿还是同质化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731520" y="1874520"/>
            <a:ext cx="32004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同一批站点并列估计绿度与异质性的事件研究,直接检验 H3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光学遥感看不到不透明面板下的植被:板间与外围用遥感,板下用野外样方补充,并在文中正面写明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15968" y="1280160"/>
            <a:ext cx="3749040" cy="4846320"/>
          </a:xfrm>
          <a:prstGeom prst="roundRect">
            <a:avLst>
              <a:gd name="adj" fmla="val 1951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498848" y="141732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FA67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M5 生物学响应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4498848" y="1874520"/>
            <a:ext cx="338328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China BON-Birds 样线邻近设施时做 BACI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公民科学:只用完整清单,保留时长、距离、人数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合并同日同点多人清单以去伪重复;"计数全为 1"清单剔除或单独建模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多物种占域模型估计"距离 × 建设后"交互,不做县级聚合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先做功效分析,写明最小可检测效应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257032" y="1280160"/>
            <a:ext cx="3383280" cy="4846320"/>
          </a:xfrm>
          <a:prstGeom prst="roundRect">
            <a:avLst>
              <a:gd name="adj" fmla="val 2162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39912" y="141732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9A23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M6 综合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439912" y="1874520"/>
            <a:ext cx="301752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主图:真实选址冲突落在 NEE 两个情景之间的哪个位置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荒漠专题:扩张最快处是否也是数据最空处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政策含义:选址规则需同时约束丰富度与功能多样性、森林与干旱生物群区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数据源与获取 ①:Google Earth Engine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全部数据集已于 2026-10-20 在线实测可访问</a:t>
            </a:r>
            <a:endParaRPr lang="en-US" sz="1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441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474720"/>
                <a:gridCol w="5879592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用途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F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数据集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F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GEE ID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F3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设施与建设日期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Global Renewables Watch v1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2A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projects/sat-io/open-datasets/GRW/SOLAR_V1 · …/GRW/WIND_V1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风电场交叉验证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Dunnett 等协调化风电场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2A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projects/sat-io/open-datasets/global_wind_farms_2020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年度土地覆盖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GLC_FCS30D 1985–2022,30 m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2A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projects/sat-io/open-datasets/GLC-FCS30D/annual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10 m 土地覆盖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Dynamic World;ESA WorldCover;ESRI LULC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2A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GOOGLE/DYNAMICWORLD/V1 · ESA/WorldCover/v200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光学影像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Sentinel-2 SR;Landsat 8/9 L2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2A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COPERNICUS/S2_SR_HARMONIZED · LANDSAT/LC09/C02/T1_L2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地表温度与植被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MODIS LST 8 天;MODIS VI 16 天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2A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MODIS/061/MOD11A2 · MODIS/061/MOD13Q1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气候协变量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ERA5-Land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2A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ECMWF/ERA5_LAND/HOURLY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资源潜力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Global Solar Atlas PVOUT;Global Wind Atlas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2A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…/global_solar_atlas/pvout_LTAy_AvgDailyTotals · …/global_wind_atlas/wind-speed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保护地 / 人类改造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WDPA;TNC Human Modification v3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2A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WCMC/WDPA/current/polygons · TNC/HM/v3/300m_c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冠层高度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GLAD GEDI-Landsat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2A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projects/sat-io/open-datasets/GLAD/GEDI_V27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1722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另已实测可用:MODIS GPP(MOD17A2HGF)、蒸散(MOD16A2GF)、ERA5-Land 月聚合(MONTHLY_AGGR)。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数据源与获取 ②:GEE 之外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部分需下载上传,部分需授权或合作</a:t>
            </a:r>
            <a:endParaRPr lang="en-US" sz="1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441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846320"/>
                <a:gridCol w="414223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数据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7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内容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7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获取方式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7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中国光伏专题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2015/2020 矢量(含建设年份);2020 年 10 m;CPVPD-2024;农光互补 2010–2022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Scientific Data 等论文的数据仓库,公开下载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CLCD v1.0.5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中国逐年 30 m 土地覆盖 1985–2025(Yang &amp; Huang 2026,Zenodo,CC BY 4.0)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doi:10.5281/zenodo.18180184;需 2017–2023 年 7 幅,约 5.7 GB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Global Energy Monitor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光伏与风电站点,装机容量,宣布/在建/运行状态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globalenergymonitor.org 申请下载,核对许可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物种分布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IUCN 红色名录范围;BirdLife 鸟类范围;自有 SDM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IUCN 空间数据下载页;BirdLife DataZone 申请;不得再分发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China BON-Birds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31 省 338 样区,1,822 条样线、1,343 个样点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无公开门户,需通过合作接洽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公民科学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eBird EBD(含努力字段);中国观鸟记录中心记录级数据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eBird 数据申请;观鸟中心按平台条款;不再分发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NEE 情景图层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全国集中与省级分散两种选址情景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查论文数据可用性声明,或联系作者组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质量与证伪关口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看结果之前写定;任一关口不过,按对策调整后重跑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48640" cy="548640"/>
          </a:xfrm>
          <a:prstGeom prst="ellipse">
            <a:avLst/>
          </a:prstGeom>
          <a:solidFill>
            <a:srgbClr val="1F6F78"/>
          </a:solidFill>
          <a:ln w="12700">
            <a:solidFill>
              <a:srgbClr val="1F6F7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280160" y="175564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日期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2377440" y="1554480"/>
            <a:ext cx="5669280" cy="960120"/>
          </a:xfrm>
          <a:prstGeom prst="roundRect">
            <a:avLst>
              <a:gd name="adj" fmla="val 5714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560320" y="1554480"/>
            <a:ext cx="5349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目视判读与 GRW 建设季度相差不超过两个季度的比例达到预设门槛(建议 85%)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229600" y="1554480"/>
            <a:ext cx="3410712" cy="960120"/>
          </a:xfrm>
          <a:prstGeom prst="roundRect">
            <a:avLst>
              <a:gd name="adj" fmla="val 5714"/>
            </a:avLst>
          </a:prstGeom>
          <a:solidFill>
            <a:srgbClr val="FBF1DF"/>
          </a:solidFill>
          <a:ln w="12700">
            <a:solidFill>
              <a:srgbClr val="FBF1D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12480" y="155448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4A1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不通过:改用年度时间窗,剔除日期模糊站点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2880360"/>
            <a:ext cx="548640" cy="548640"/>
          </a:xfrm>
          <a:prstGeom prst="ellipse">
            <a:avLst/>
          </a:prstGeom>
          <a:solidFill>
            <a:srgbClr val="0E2F3C"/>
          </a:solidFill>
          <a:ln w="12700">
            <a:solidFill>
              <a:srgbClr val="0E2F3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2880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280160" y="289864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设计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2377440" y="2697480"/>
            <a:ext cx="5669280" cy="960120"/>
          </a:xfrm>
          <a:prstGeom prst="roundRect">
            <a:avLst>
              <a:gd name="adj" fmla="val 5714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560320" y="2697480"/>
            <a:ext cx="5349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事件研究预趋势联合检验不显著,HonestDiD 敏感性可接受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229600" y="2697480"/>
            <a:ext cx="3410712" cy="960120"/>
          </a:xfrm>
          <a:prstGeom prst="roundRect">
            <a:avLst>
              <a:gd name="adj" fmla="val 5714"/>
            </a:avLst>
          </a:prstGeom>
          <a:solidFill>
            <a:srgbClr val="FBF1DF"/>
          </a:solidFill>
          <a:ln w="12700">
            <a:solidFill>
              <a:srgbClr val="FBF1D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12480" y="269748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4A1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不通过:重新匹配或缩小比较组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48640" y="4023360"/>
            <a:ext cx="548640" cy="548640"/>
          </a:xfrm>
          <a:prstGeom prst="ellipse">
            <a:avLst/>
          </a:prstGeom>
          <a:solidFill>
            <a:srgbClr val="6FA67A"/>
          </a:solidFill>
          <a:ln w="12700">
            <a:solidFill>
              <a:srgbClr val="6FA67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4023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280160" y="404164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功效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2377440" y="3840480"/>
            <a:ext cx="5669280" cy="960120"/>
          </a:xfrm>
          <a:prstGeom prst="roundRect">
            <a:avLst>
              <a:gd name="adj" fmla="val 5714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560320" y="3840480"/>
            <a:ext cx="5349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主结局的最小可检测效应小于文献中的合理效应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8229600" y="3840480"/>
            <a:ext cx="3410712" cy="960120"/>
          </a:xfrm>
          <a:prstGeom prst="roundRect">
            <a:avLst>
              <a:gd name="adj" fmla="val 5714"/>
            </a:avLst>
          </a:prstGeom>
          <a:solidFill>
            <a:srgbClr val="FBF1DF"/>
          </a:solidFill>
          <a:ln w="12700">
            <a:solidFill>
              <a:srgbClr val="FBF1D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412480" y="384048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4A1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不通过:合并区域或延长时窗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48640" y="5166360"/>
            <a:ext cx="548640" cy="54864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8640" y="5166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G4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280160" y="518464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构念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2377440" y="4983480"/>
            <a:ext cx="5669280" cy="960120"/>
          </a:xfrm>
          <a:prstGeom prst="roundRect">
            <a:avLst>
              <a:gd name="adj" fmla="val 5714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560320" y="4983480"/>
            <a:ext cx="5349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遥感状况指标与有地面数据处的多样性指标方向一致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8229600" y="4983480"/>
            <a:ext cx="3410712" cy="960120"/>
          </a:xfrm>
          <a:prstGeom prst="roundRect">
            <a:avLst>
              <a:gd name="adj" fmla="val 5714"/>
            </a:avLst>
          </a:prstGeom>
          <a:solidFill>
            <a:srgbClr val="FBF1DF"/>
          </a:solidFill>
          <a:ln w="12700">
            <a:solidFill>
              <a:srgbClr val="FBF1D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412480" y="498348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4A1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不通过:结局只表述为栖息地状况,不外推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两周 pilot 与决策门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G1 与 G2 都通过才全国铺开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822960" y="2148840"/>
            <a:ext cx="10515600" cy="0"/>
          </a:xfrm>
          <a:prstGeom prst="line">
            <a:avLst/>
          </a:prstGeom>
          <a:noFill/>
          <a:ln w="31750">
            <a:solidFill>
              <a:srgbClr val="1F6F7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920240"/>
            <a:ext cx="457200" cy="457200"/>
          </a:xfrm>
          <a:prstGeom prst="ellipse">
            <a:avLst/>
          </a:prstGeom>
          <a:solidFill>
            <a:srgbClr val="1F6F7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3716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第 1–2 天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651760"/>
            <a:ext cx="2103120" cy="3108960"/>
          </a:xfrm>
          <a:prstGeom prst="roundRect">
            <a:avLst>
              <a:gd name="adj" fmla="val 2609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2788920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注册 GEE,跑起步脚本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85800" y="416052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产出:中国光伏与风电按季度、按 2018 土地覆盖的统计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2953512" y="1920240"/>
            <a:ext cx="457200" cy="457200"/>
          </a:xfrm>
          <a:prstGeom prst="ellipse">
            <a:avLst/>
          </a:prstGeom>
          <a:solidFill>
            <a:srgbClr val="1F6F7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816352" y="13716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第 3–5 天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2816352" y="2651760"/>
            <a:ext cx="2103120" cy="3108960"/>
          </a:xfrm>
          <a:prstGeom prst="roundRect">
            <a:avLst>
              <a:gd name="adj" fmla="val 2609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53512" y="2788920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抽 100 站目视验证建设季度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953512" y="416052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产出:G1 一致率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221224" y="1920240"/>
            <a:ext cx="457200" cy="457200"/>
          </a:xfrm>
          <a:prstGeom prst="ellipse">
            <a:avLst/>
          </a:prstGeom>
          <a:solidFill>
            <a:srgbClr val="1F6F7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84064" y="13716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第 6–9 天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084064" y="2651760"/>
            <a:ext cx="2103120" cy="3108960"/>
          </a:xfrm>
          <a:prstGeom prst="roundRect">
            <a:avLst>
              <a:gd name="adj" fmla="val 2609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221224" y="2788920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西北旱区约 200 个 2019–2021 光伏站 + 匹配晚建站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221224" y="416052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产出:绿度与异质性事件研究,预趋势图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7488936" y="1920240"/>
            <a:ext cx="457200" cy="457200"/>
          </a:xfrm>
          <a:prstGeom prst="ellipse">
            <a:avLst/>
          </a:prstGeom>
          <a:solidFill>
            <a:srgbClr val="1F6F7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51776" y="13716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第 10–12 天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7351776" y="2651760"/>
            <a:ext cx="2103120" cy="3108960"/>
          </a:xfrm>
          <a:prstGeom prst="roundRect">
            <a:avLst>
              <a:gd name="adj" fmla="val 2609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88936" y="2788920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内蒙古草原约 100 个风电场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488936" y="416052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产出:MODIS 夜间地表温度,风电可行性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9756648" y="1920240"/>
            <a:ext cx="457200" cy="457200"/>
          </a:xfrm>
          <a:prstGeom prst="ellipse">
            <a:avLst/>
          </a:prstGeom>
          <a:solidFill>
            <a:srgbClr val="E9A2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619488" y="13716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第 13–14 天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9619488" y="2651760"/>
            <a:ext cx="2103120" cy="3108960"/>
          </a:xfrm>
          <a:prstGeom prst="roundRect">
            <a:avLst>
              <a:gd name="adj" fmla="val 2609"/>
            </a:avLst>
          </a:prstGeom>
          <a:solidFill>
            <a:srgbClr val="FBF1DF"/>
          </a:solidFill>
          <a:ln w="12700">
            <a:solidFill>
              <a:srgbClr val="FBF1D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756648" y="2788920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写决策备忘录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9756648" y="416052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产出:继续、调整或放弃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首批实测:中国站点规模与建设前生境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GRW,项目 renewable-conservation,2026-10-20;只计 2018 年后新建站点(2017 为左删失)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291840" cy="960120"/>
          </a:xfrm>
          <a:prstGeom prst="roundRect">
            <a:avLst>
              <a:gd name="adj" fmla="val 5714"/>
            </a:avLst>
          </a:prstGeom>
          <a:solidFill>
            <a:srgbClr val="FBF1DF"/>
          </a:solidFill>
          <a:ln w="12700">
            <a:solidFill>
              <a:srgbClr val="FBF1D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67335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2F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20,231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488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光伏地块(全部)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2715768"/>
            <a:ext cx="3291840" cy="960120"/>
          </a:xfrm>
          <a:prstGeom prst="roundRect">
            <a:avLst>
              <a:gd name="adj" fmla="val 5714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78892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2F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6,312 km²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731520" y="326440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光伏总面积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831336"/>
            <a:ext cx="3291840" cy="960120"/>
          </a:xfrm>
          <a:prstGeom prst="roundRect">
            <a:avLst>
              <a:gd name="adj" fmla="val 5714"/>
            </a:avLst>
          </a:prstGeom>
          <a:solidFill>
            <a:srgbClr val="FBF1DF"/>
          </a:solidFill>
          <a:ln w="12700">
            <a:solidFill>
              <a:srgbClr val="FBF1D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3904488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2F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119,974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731520" y="437997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风机(全部)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4946904"/>
            <a:ext cx="3291840" cy="960120"/>
          </a:xfrm>
          <a:prstGeom prst="roundRect">
            <a:avLst>
              <a:gd name="adj" fmla="val 5714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5020056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2F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14,421 · 72,838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731520" y="5495544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2018 年后新建光伏 · 风机</a:t>
            </a:r>
            <a:endParaRPr lang="en-US" sz="1200" dirty="0"/>
          </a:p>
        </p:txBody>
      </p:sp>
      <p:graphicFrame>
        <p:nvGraphicFramePr>
          <p:cNvPr id="16" name="Chart 0" descr=""/>
          <p:cNvGraphicFramePr/>
          <p:nvPr/>
        </p:nvGraphicFramePr>
        <p:xfrm>
          <a:off x="4114800" y="1463040"/>
          <a:ext cx="74980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7" name="Text 14"/>
          <p:cNvSpPr/>
          <p:nvPr/>
        </p:nvSpPr>
        <p:spPr>
          <a:xfrm>
            <a:off x="4114800" y="5669280"/>
            <a:ext cx="7498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CLCD 无稀疏植被类(并入草地),湿地并入水体;两产品逐站主导类别一致 75.5%。按站点数一半建在耕地上。风机森林占比:CLCD 12.5%(9,067 台)、GLC 6.3%(4,613 台),只能报区间,需高分影像定标。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选址急转向裸地 · G1 日期三重核对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左:建设前一年 30 m 覆盖按建设年份;右:哨兵-2 自动断点、目视复核、TZ-SAM 独立日期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417320"/>
          <a:ext cx="676656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035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* 2024 年 GRW 只到第 2 季度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7589520" y="1463040"/>
            <a:ext cx="4069080" cy="1051560"/>
          </a:xfrm>
          <a:prstGeom prst="roundRect">
            <a:avLst>
              <a:gd name="adj" fmla="val 5217"/>
            </a:avLst>
          </a:prstGeom>
          <a:solidFill>
            <a:srgbClr val="F3E7E4"/>
          </a:solidFill>
          <a:ln w="12700">
            <a:solidFill>
              <a:srgbClr val="F3E7E4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0" y="1536192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2F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77%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7772400" y="201168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哨兵-2 自动断点在 GRW 季度 ±2 内(100 站;预设 85%)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7589520" y="2670048"/>
            <a:ext cx="4069080" cy="1051560"/>
          </a:xfrm>
          <a:prstGeom prst="roundRect">
            <a:avLst>
              <a:gd name="adj" fmla="val 5217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772400" y="274320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2F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79.6%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7772400" y="3218688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与 TZ-SAM 建设时间上下界一致(n = 7,987)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589520" y="3877056"/>
            <a:ext cx="4069080" cy="1051560"/>
          </a:xfrm>
          <a:prstGeom prst="roundRect">
            <a:avLst>
              <a:gd name="adj" fmla="val 5217"/>
            </a:avLst>
          </a:prstGeom>
          <a:solidFill>
            <a:srgbClr val="FBF1DF"/>
          </a:solidFill>
          <a:ln w="12700">
            <a:solidFill>
              <a:srgbClr val="FBF1D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772400" y="3950208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2F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14.8%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7772400" y="4425696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GRW 偏晚,中位数晚 4.1 季;目视复核 6 站中 5 站与 TZ 互证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7589520" y="5120640"/>
            <a:ext cx="4069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6F7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对策:主样本只用 GRW 与 TZ-SAM 一致的 6,355 站;处理时点取两者较早者;GRW 季度前 2 季至当季为过渡期。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西北旱区试点:交错 DiD 事件研究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365 站(2019–2021 处理 198,2022–2023 晚建对照 167);Landsat 生长季 NDVI,2016–2024</a:t>
            </a:r>
            <a:endParaRPr lang="en-US" sz="1400" dirty="0"/>
          </a:p>
        </p:txBody>
      </p:sp>
      <p:pic>
        <p:nvPicPr>
          <p:cNvPr id="4" name="Image 0" descr="results/figures/pilot_nw_eventstud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6675120" cy="4983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406640" y="1463040"/>
            <a:ext cx="4251960" cy="1078992"/>
          </a:xfrm>
          <a:prstGeom prst="roundRect">
            <a:avLst>
              <a:gd name="adj" fmla="val 5085"/>
            </a:avLst>
          </a:prstGeom>
          <a:solidFill>
            <a:srgbClr val="F3E7E4"/>
          </a:solidFill>
          <a:ln w="12700">
            <a:solidFill>
              <a:srgbClr val="F3E7E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589520" y="153619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站内:G2 未通过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7589520" y="1920240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建后 1–3 年 −0.022(−0.042, −0.002),但建设前偏离达 0.025;设 2 年预期期后降为 −0.004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7406640" y="2670048"/>
            <a:ext cx="4251960" cy="1078992"/>
          </a:xfrm>
          <a:prstGeom prst="roundRect">
            <a:avLst>
              <a:gd name="adj" fmla="val 5085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589520" y="274320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外围环:设计可用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7589520" y="3127248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建设前平坦(p = 0.60);60–500 m 未检出外溢,−0.009(−0.026, 0.007)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7406640" y="3877056"/>
            <a:ext cx="4251960" cy="1078992"/>
          </a:xfrm>
          <a:prstGeom prst="roundRect">
            <a:avLst>
              <a:gd name="adj" fmla="val 5085"/>
            </a:avLst>
          </a:prstGeom>
          <a:solidFill>
            <a:srgbClr val="FBF1DF"/>
          </a:solidFill>
          <a:ln w="12700">
            <a:solidFill>
              <a:srgbClr val="FBF1D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589520" y="395020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异质性:未检出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7589520" y="4334256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站内与外围环 NDVI 标准差均无变化;H3 未获支持也未被否定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7406640" y="5120640"/>
            <a:ext cx="4251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6F7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修改:按建设前 NDVI 轨迹与选址变量匹配从未建设点;前期延至 2010;站内改用 10 m 板间像元;HonestDiD 报告界。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主要风险与对策</a:t>
            </a:r>
            <a:endParaRPr lang="en-US" sz="30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4415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688543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风险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F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对策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F3C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新颖性:全国绿度评估已有 [12]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主张落在因果设计、异质性、风电与物种暴露;绿度结果作为与 [12] 的对照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遥感结局被当成多样性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构念限定为栖息地状况与暴露;M5 做生物学验证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选址非随机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晚建站点作对照;按资源潜力与可达性匹配;预趋势检验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GRW 日期是检出时间,不等于并网时间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目视验证;与 GEM 投运年份比对;时间窗稳健性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板下植被不可见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板间与外围用遥感,板下用野外数据;正面写入局限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风电的主要影响(撞击、回避)不在地表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遥感只回答足迹与地表效应;撞击风险以迁徙通道叠加作扩展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公民科学的努力混杂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完整清单、显式努力、去伪重复、占域模型、功效分析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相关文献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143000"/>
            <a:ext cx="11094415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[1] Zhou Z., Sun S., Zhang J., Fang Y., Li B.V. (2026) Comparing potential biodiversity conflicts from renewable energy expansion in China at different centralization levels. Nat. Ecol. Evol. 10:1316–1328.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[2] Zhang H. et al. (2026) China's solar expansion policy reduces bird diversity. Science 393:831–836.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[3] Robinson C. et al. (2025) Global Renewables Watch: a temporal dataset of solar and wind energy derived from satellite imagery. arXiv:2503.14860.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[4] Vectorized solar photovoltaic installation dataset across China in 2015 and 2020. Scientific Data (s41597-024-04356-z).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[5] A 10-m national-scale map of ground-mounted photovoltaic power stations in China of 2020. Scientific Data (2024).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[6] Satellites reveal spatial heterogeneity in dryland photovoltaic plants' effects on vegetation dynamics. Earth's Future (2024).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[7] Diverse vegetation responses to solar farm installation are also driven by climate change. Commun. Earth Environ. (2025).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[8] Large-scale photovoltaic farms significantly change the vegetation diversity and biomass through influencing soil moisture. Vadose Zone J. (2025).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[9] Wind farms increase land surface temperature and reduce vegetation productivity in the Inner Mongolia. Geography and Sustainability (2024).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[10] Callaway B., Sant'Anna P.H.C. (2021) J. Econometrics 225:200–230;Sun L., Abraham S. (2021) J. Econometrics 225:175–199;Rambachan A., Roth J. (2023) Rev. Econ. Stud. 90:2555–2591.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[11] Brooks T.M. et al. (2019) Measuring terrestrial Area of Habitat (AOH) and its utility for the IUCN Red List. Trends Ecol. Evol. 34:977–986.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[12] Li X., He Z., Xia S., Yang Y. (2024) Greenness change associated with construction and operation of photovoltaic solar energy in China. Renewable Energy 226:120461.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[13] Li Y., Wang Z., Lei Y., Yu X., Che H., Zhang X. (2026) Ecological effects of photovoltaic deployment in China: a remote sensing assessment. Environ. Res. Commun. 8:041016.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[14] 彭昀月, 罗永梅, 徐泽楠, 靳彤 (2024) 集中式大型光伏及风电电场生态影响:进展与展望. 生物多样性 32(2):23212.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[15] 《中国可再生能源与生物多样性协同发展的机遇与挑战》(征求意见稿),发布机构与日期待核实。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E2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下一步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828800"/>
            <a:ext cx="548640" cy="54864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554480" y="182880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重做对照:按建设前 NDVI 轨迹匹配从未建设点,前期延至 2010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788920"/>
            <a:ext cx="548640" cy="54864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788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554480" y="27889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森林风机 6–13% 区间:高分影像抽样定标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731520" y="3749040"/>
            <a:ext cx="548640" cy="54864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3749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554480" y="374904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联系 NEE 作者组索取情景图层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31520" y="4709160"/>
            <a:ext cx="548640" cy="54864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4709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554480" y="470916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通过鸟类学合作网络接洽 China BON-Birds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40080" y="5943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8B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在线版本与数据源清单:dingchenchen6.github.io/renewables-biodiversity-rs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/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中国风光电扩张的生物多样性影响:遥感事后评估工作流</dc:title>
  <dc:subject/>
  <dc:creator>Chenchen Ding</dc:creator>
  <cp:lastModifiedBy>Chenchen Ding</cp:lastModifiedBy>
  <cp:revision>1</cp:revision>
  <dcterms:created xsi:type="dcterms:W3CDTF">2026-10-20T15:44:50Z</dcterms:created>
  <dcterms:modified xsi:type="dcterms:W3CDTF">2026-10-20T15:44:50Z</dcterms:modified>
</cp:coreProperties>
</file>
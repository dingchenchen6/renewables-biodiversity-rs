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2018 年后新建光伏:建设前一年 30 m 土地覆盖(按面积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CLCD v1.0.5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31.2</c:v>
                </c:pt>
                <c:pt idx="2">
                  <c:v>23.2</c:v>
                </c:pt>
                <c:pt idx="3">
                  <c:v>0</c:v>
                </c:pt>
                <c:pt idx="4">
                  <c:v>3.7</c:v>
                </c:pt>
                <c:pt idx="5">
                  <c:v>3.9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GLC_FCS30D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39.5</c:v>
                </c:pt>
                <c:pt idx="1">
                  <c:v>21.1</c:v>
                </c:pt>
                <c:pt idx="2">
                  <c:v>19.5</c:v>
                </c:pt>
                <c:pt idx="3">
                  <c:v>8.6</c:v>
                </c:pt>
                <c:pt idx="4">
                  <c:v>6.1</c:v>
                </c:pt>
                <c:pt idx="5">
                  <c:v>3.2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300" b="0" i="0" u="none" strike="noStrike">
                <a:solidFill>
                  <a:srgbClr val="0E2F3C"/>
                </a:solidFill>
                <a:latin typeface="PingFang SC"/>
              </a:rPr>
              <a:t>新建光伏面积的建设前覆盖构成(%)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裸地</c:v>
                </c:pt>
              </c:strCache>
            </c:strRef>
          </c:tx>
          <c:spPr>
            <a:solidFill>
              <a:srgbClr val="CDB4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33.6</c:v>
                </c:pt>
                <c:pt idx="1">
                  <c:v>18.7</c:v>
                </c:pt>
                <c:pt idx="2">
                  <c:v>15.6</c:v>
                </c:pt>
                <c:pt idx="3">
                  <c:v>18.9</c:v>
                </c:pt>
                <c:pt idx="4">
                  <c:v>44.5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稀疏植被</c:v>
                </c:pt>
              </c:strCache>
            </c:strRef>
          </c:tx>
          <c:spPr>
            <a:solidFill>
              <a:srgbClr val="A9C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7.9</c:v>
                </c:pt>
                <c:pt idx="1">
                  <c:v>8.8</c:v>
                </c:pt>
                <c:pt idx="2">
                  <c:v>10.8</c:v>
                </c:pt>
                <c:pt idx="3">
                  <c:v>10.7</c:v>
                </c:pt>
                <c:pt idx="4">
                  <c:v>12.1</c:v>
                </c:pt>
                <c:pt idx="5">
                  <c:v>5.8</c:v>
                </c:pt>
                <c:pt idx="6">
                  <c:v>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草地</c:v>
                </c:pt>
              </c:strCache>
            </c:strRef>
          </c:tx>
          <c:spPr>
            <a:solidFill>
              <a:srgbClr val="6FA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23.7</c:v>
                </c:pt>
                <c:pt idx="1">
                  <c:v>25</c:v>
                </c:pt>
                <c:pt idx="2">
                  <c:v>41.9</c:v>
                </c:pt>
                <c:pt idx="3">
                  <c:v>24.8</c:v>
                </c:pt>
                <c:pt idx="4">
                  <c:v>16.1</c:v>
                </c:pt>
                <c:pt idx="5">
                  <c:v>7.4</c:v>
                </c:pt>
                <c:pt idx="6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耕地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21.9</c:v>
                </c:pt>
                <c:pt idx="1">
                  <c:v>28.9</c:v>
                </c:pt>
                <c:pt idx="2">
                  <c:v>21.7</c:v>
                </c:pt>
                <c:pt idx="3">
                  <c:v>31.2</c:v>
                </c:pt>
                <c:pt idx="4">
                  <c:v>18.8</c:v>
                </c:pt>
                <c:pt idx="5">
                  <c:v>7.4</c:v>
                </c:pt>
                <c:pt idx="6">
                  <c:v>4.1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8C9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12.9</c:v>
                </c:pt>
                <c:pt idx="1">
                  <c:v>18.6</c:v>
                </c:pt>
                <c:pt idx="2">
                  <c:v>10</c:v>
                </c:pt>
                <c:pt idx="3">
                  <c:v>14.4</c:v>
                </c:pt>
                <c:pt idx="4">
                  <c:v>8.5</c:v>
                </c:pt>
                <c:pt idx="5">
                  <c:v>5.5</c:v>
                </c:pt>
                <c:pt idx="6">
                  <c:v>12.8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可以做,时机好;全国绿度评估已有(Li 等 2024),新意在因果对照、异质性、风电与物种暴露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国内已有的遥感评估:已回答什么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绿度变化已有全国描述,方向依原生境与干旱度而异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95935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研究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样本与方法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主要发现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留给本工作流的空间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X.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Renewable Energy [12]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全国光伏图 × 30 m 植被指数;建设期与运行期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建设期绿度下降,森林最大、裸地最小;中小站点负效应更强;运行期回升,裸地最明显;约 21% 超过建设前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只有绿度;无未建对照,区域变绿与气候趋势难剥离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Y. 等 2026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Environ. Res. Commun. [13]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57 站,"空间-时间"法;EVI、FVC、NPP、土壤水分、气温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湿润区耕地负响应最强(ΔEVI −0.03);草地较弱;裸地 FVC、NPP 小幅上升且土壤水分增加;夜间增温为主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站点少;无物种与异质性;无风电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彭昀月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生物多样性 [14]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集中式光伏与风电生态影响综述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光伏改变土壤、植被与栖息地质量;风电集中于植被扰动、撞击与破碎化;机制与生态系统层面研究不足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呼吁统一调查方法与物种层面研究,对应 M3–M5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修订后的缺口:① 有未建对照与预趋势检验的因果估计;② 绿度之外的异质性与物种暴露;③ 风电与光伏同框;④ 真实选址对照 NEE 情景。政策语境另见《中国可再生能源与生物多样性协同发展的机遇与挑战》征求意见稿 [15]。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全国 30 m:建设期绿度降,运行期回升,约 21% 超过建设前 [12]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 站:湿润区耕地负响应最强,裸地小幅变绿伴随土壤水分增加 [13]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效应由原生境与干旱度共同调节:旱区以土壤水分增益为主,湿润区以遮光为主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中小站点负效应更强可能是选址混杂(建在高绿度处),需控制建设前绿度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建设前生境:建设前一年年度土地覆盖(CLCD 1985–2025 为主,GLC_FCS30D 交叉核对)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 v1.0.5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 1985–2025(Yang &amp; Huang 2026,Zenodo,CC BY 4.0)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doi:10.5281/zenodo.18180184;需 2017–2023 年 7 幅,约 5.7 GB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669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CLCD 无稀疏植被类(并入草地),湿地并入水体;两产品逐站主导类别一致 75.5%。按站点数一半建在耕地上。风机森林:CLCD 12.5%、GLC 6.3%;分层抽 36 台哨兵-2 盲判定标后约 8,900 台(5,300–9,600),接近 CLCD。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选址急转向裸地 · G1 日期三重核对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左:建设前一年 30 m 覆盖按建设年份;右:哨兵-2 自动断点、目视复核、TZ-SAM 独立日期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* 2024 年 GRW 只到第 2 季度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46304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0" y="15361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哨兵-2 自动断点在 GRW 季度 ±2 内(100 站;预设 85%)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9520" y="2670048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0" y="3218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TZ-SAM 建设时间上下界一致(n = 7,987)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77056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39502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0" y="4425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偏晚,中位数晚 4.1 季;目视复核 6 站中 5 站与 TZ 互证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89520" y="512064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对策:主样本只用 GRW 与 TZ-SAM 一致的 6,355 站;处理时点取两者较早者;GRW 季度前 2 季至当季为过渡期。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落进了谁的分布区:物种暴露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BirdLife BOTW 2025 + IUCN 分布图,5 km 网格;中国 3,165 种,受威胁 422 种</a:t>
            </a:r>
            <a:endParaRPr lang="en-US" sz="1400" dirty="0"/>
          </a:p>
        </p:txBody>
      </p:sp>
      <p:pic>
        <p:nvPicPr>
          <p:cNvPr id="4" name="Image 0" descr="results/figures/exposure_threatened_sh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766560" cy="3758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23036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当期新建光伏面积落在该物种分布区内的比例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498080" y="1463040"/>
            <a:ext cx="4160520" cy="1207008"/>
          </a:xfrm>
          <a:prstGeom prst="roundRect">
            <a:avLst>
              <a:gd name="adj" fmla="val 454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平均暴露下降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0" y="19202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新建光伏所在网格的物种数百分位 50 → 37,受威胁物种 44 → 37(2018–21 → 2022–24)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498080" y="2834640"/>
            <a:ext cx="4160520" cy="1207008"/>
          </a:xfrm>
          <a:prstGeom prst="roundRect">
            <a:avLst>
              <a:gd name="adj" fmla="val 454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旱地物种暴露上升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32918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猎隼分布区内新建光伏占比 57% → 82%,鹅喉羚 43% → 70%,草原雕 49% → 69%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98080" y="4206240"/>
            <a:ext cx="4160520" cy="1207008"/>
          </a:xfrm>
          <a:prstGeom prst="roundRect">
            <a:avLst>
              <a:gd name="adj" fmla="val 454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8096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风电:普氏原羚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680960" y="46634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 个分布网格中 22 个出现新风机(208 台);只是分布区重叠,需局地数据确认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557784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预测一致:集中选址降低了丰富度冲突,代价转移到少数开阔、干旱生境物种上。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西北旱区试点:交错 DiD 事件研究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365 站(2019–2021 处理 198,2022–2023 晚建对照 167);Landsat 生长季 NDVI,2016–2024</a:t>
            </a:r>
            <a:endParaRPr lang="en-US" sz="1400" dirty="0"/>
          </a:p>
        </p:txBody>
      </p:sp>
      <p:pic>
        <p:nvPicPr>
          <p:cNvPr id="4" name="Image 0" descr="results/figures/pilot_nw_event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675120" cy="4983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463040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0" y="15361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站内:G2 未通过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19202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建后 1–3 年 −0.022(−0.042, −0.002),但建设前偏离达 0.025;设 2 年预期期后降为 −0.004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406640" y="2670048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外围环:设计可用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89520" y="31272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建设前平坦(p = 0.60);60–500 m 未检出外溢,−0.009(−0.026, 0.007)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06640" y="3877056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异质性:未检出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3342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站内与外围环 NDVI 标准差均无变化;H3 未获支持也未被否定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512064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修改:按建设前 NDVI 轨迹与选址变量匹配从未建设点;前期延至 2010;站内改用 10 m 板间像元;HonestDiD 报告界。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修正版:匹配的从未建设对照 + HonestDiD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362 站 vs 530 个匹配点(2010–2016 NDVI 轨迹、PVOUT、坡度、海拔;省份与 CLCD 覆盖精确匹配);1 年预期期</a:t>
            </a:r>
            <a:endParaRPr lang="en-US" sz="1400" dirty="0"/>
          </a:p>
        </p:txBody>
      </p:sp>
      <p:pic>
        <p:nvPicPr>
          <p:cNvPr id="4" name="Image 0" descr="results/figures/pilot_nw_matc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583680" cy="4773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0" y="146304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0" y="1554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 NDVI −0.029(约 −11%)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98080" y="19659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95% CI −0.043 至 −0.016;HonestDiD 在 Mbar = 0.5 仍显著(−0.054, −0.002)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0" y="292608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3017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外围环异质性 +0.007(约 +10%)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98080" y="3429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 NDVI 均值不变;异质性上升,方向与 H3 同质化相反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315200" y="438912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44805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G2 有条件通过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 = −1 已先降一个台阶(清表早于面板可见);留出检验仍拒绝,稳健性靠 HonestDiD 的界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鸟类:站点层面的近远区对照与多物种占域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近区 0–5 km vs 远区 8–20 km,站点 × 年份固定效应;CBRC + eBird/GBIF 合并去重清单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9202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近区 × 建设后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38 站(每格 ≥ 3)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24 站(每格 ≥ 5)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清单物种数(控制时长、月份、来源)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−10.3%(−22.9, +4.5)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−10.2%(−23.0, +4.6)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 观察者固定效应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−9.6%(−24.3, +8.0)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−9.7%(−24.3, +7.7)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占域模型:群落平均(logit)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+0.22(−0.11, 0.59)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−0.41(−0.75, −0.04)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派生丰富度 DiD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+1.6 种(−0.6, 3.9)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−3.9 种(−6.1, −1.7)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6,682 个研究站点中只有 38 个(&lt;1%)四格各 ≥ 3 份清单;西北试点与大站全部不合格。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4709160"/>
            <a:ext cx="6400800" cy="1463040"/>
          </a:xfrm>
          <a:prstGeom prst="roundRect">
            <a:avLst>
              <a:gd name="adj" fmla="val 3750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480060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判断:不稳定,暂不下结论。占域结果随纳入门槛翻转(38 站已收敛,R-hat ≤ 1.03),由 14 个稀疏站点驱动;近区建设前 3 年偏高,存在预趋势。大型荒漠基地需结构化监测或 China BON-Birds。</a:t>
            </a:r>
            <a:endParaRPr lang="en-US" sz="1200" dirty="0"/>
          </a:p>
        </p:txBody>
      </p:sp>
      <p:pic>
        <p:nvPicPr>
          <p:cNvPr id="8" name="Image 0" descr="results/figures/site_birds_d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4572000" cy="28986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3232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清单层面事件研究(38 站)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鸟类丰度型多样性:Science 指标 + 评论文章的清洗与努力校正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同一近远区设计;38 站 33,327 份清单 → 合并重复 26,972 → 剔除仅记有无 5,767 → 21,205 次调查</a:t>
            </a:r>
            <a:endParaRPr lang="en-US" sz="1400" dirty="0"/>
          </a:p>
        </p:txBody>
      </p:sp>
      <p:pic>
        <p:nvPicPr>
          <p:cNvPr id="4" name="Image 0" descr="results/figures/site_birds_abund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35112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46720" y="1463040"/>
            <a:ext cx="3611880" cy="1207008"/>
          </a:xfrm>
          <a:prstGeom prst="roundRect">
            <a:avLst>
              <a:gd name="adj" fmla="val 454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全部与零无差异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0" y="19202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朴素 Shannon、清洗后 q = 1/2、观察者 FE、覆盖度标准化 q = 0/1/2;24 站结果一致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46720" y="2834640"/>
            <a:ext cx="3611880" cy="1207008"/>
          </a:xfrm>
          <a:prstGeom prst="roundRect">
            <a:avLst>
              <a:gd name="adj" fmla="val 454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0" y="2926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总个体数 −14%(n.s.)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0" y="32918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两个样本方向一致,区间很宽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046720" y="4206240"/>
            <a:ext cx="3611880" cy="1207008"/>
          </a:xfrm>
          <a:prstGeom prst="roundRect">
            <a:avLst>
              <a:gd name="adj" fmla="val 454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0" y="4297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功效有限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0" y="46634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覆盖度标准化的共同覆盖度仅 0.60,区间约 ±25%;只能排除大效应,且仅代表城郊站点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5074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清洗:同日同点多人清单合并(计数取最大);剔除所有计数为 1 的调查(观鸟中心占 40%);99% 截尾;保留单物种调查(按因变量剔除即样本选择)。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新颖性:全国绿度评估已有 [12]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主张落在因果设计、异质性、风电与物种暴露;绿度结果作为与 [12] 的对照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[12] Li X., He Z., Xia S., Yang Y. (2024) Greenness change associated with construction and operation of photovoltaic solar energy in China. Renewable Energy 226:120461.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[13] Li Y., Wang Z., Lei Y., Yu X., Che H., Zhang X. (2026) Ecological effects of photovoltaic deployment in China: a remote sensing assessment. Environ. Res. Commun. 8:041016.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[14] 彭昀月, 罗永梅, 徐泽楠, 靳彤 (2024) 集中式大型光伏及风电电场生态影响:进展与展望. 生物多样性 32(2):23212.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[15] 《中国可再生能源与生物多样性协同发展的机遇与挑战》(征求意见稿),发布机构与日期待核实。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站内结局改用哨兵-2 10 m 板间像元,分离面板机械效应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鸟类:24 站留一检验与更长时窗;大型基地布设结构化监测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2026-10-22T10:15:08Z</dcterms:created>
  <dcterms:modified xsi:type="dcterms:W3CDTF">2026-10-22T10:15:08Z</dcterms:modified>
</cp:coreProperties>
</file>